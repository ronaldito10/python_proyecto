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65" r:id="rId4"/>
    <p:sldId id="269" r:id="rId5"/>
    <p:sldId id="268" r:id="rId6"/>
    <p:sldId id="267" r:id="rId7"/>
    <p:sldId id="270" r:id="rId8"/>
    <p:sldId id="272" r:id="rId9"/>
    <p:sldId id="271" r:id="rId10"/>
  </p:sldIdLst>
  <p:sldSz cx="12192000" cy="6858000"/>
  <p:notesSz cx="6858000" cy="9144000"/>
  <p:embeddedFontLst>
    <p:embeddedFont>
      <p:font typeface="Century Gothic" panose="020B0502020202020204" pitchFamily="34" charset="0"/>
      <p:regular r:id="rId12"/>
      <p:bold r:id="rId13"/>
      <p:italic r:id="rId14"/>
      <p:boldItalic r:id="rId15"/>
    </p:embeddedFont>
    <p:embeddedFont>
      <p:font typeface="Montserrat" panose="00000500000000000000" pitchFamily="2" charset="0"/>
      <p:regular r:id="rId16"/>
      <p:bold r:id="rId17"/>
      <p:italic r:id="rId18"/>
      <p:boldItalic r:id="rId19"/>
    </p:embeddedFont>
    <p:embeddedFont>
      <p:font typeface="Play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hY1AOpMtxfrWgB54L67I5QOeOD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5CC802-D3B2-43A5-9691-A9A64A015CA6}">
  <a:tblStyle styleId="{6E5CC802-D3B2-43A5-9691-A9A64A015C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03b2a34a6_1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03b2a34a6_1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a03b2a34a6_1_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03b2a34a6_1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a03b2a34a6_1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03b2a34a6_1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a03b2a34a6_1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9979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03b2a34a6_1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a03b2a34a6_1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3896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03b2a34a6_1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a03b2a34a6_1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6977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03b2a34a6_1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a03b2a34a6_1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6192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03b2a34a6_1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a03b2a34a6_1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8601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03b2a34a6_1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a03b2a34a6_1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5578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bg>
      <p:bgPr>
        <a:solidFill>
          <a:srgbClr val="1C3E73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/>
          <p:nvPr/>
        </p:nvSpPr>
        <p:spPr>
          <a:xfrm rot="5400000">
            <a:off x="11385673" y="171274"/>
            <a:ext cx="346226" cy="612057"/>
          </a:xfrm>
          <a:custGeom>
            <a:avLst/>
            <a:gdLst/>
            <a:ahLst/>
            <a:cxnLst/>
            <a:rect l="l" t="t" r="r" b="b"/>
            <a:pathLst>
              <a:path w="189122" h="335417" extrusionOk="0">
                <a:moveTo>
                  <a:pt x="94561" y="0"/>
                </a:moveTo>
                <a:lnTo>
                  <a:pt x="94561" y="0"/>
                </a:lnTo>
                <a:cubicBezTo>
                  <a:pt x="146785" y="0"/>
                  <a:pt x="189122" y="42336"/>
                  <a:pt x="189122" y="94561"/>
                </a:cubicBezTo>
                <a:lnTo>
                  <a:pt x="189122" y="240856"/>
                </a:lnTo>
                <a:cubicBezTo>
                  <a:pt x="189122" y="265936"/>
                  <a:pt x="179159" y="289988"/>
                  <a:pt x="161425" y="307721"/>
                </a:cubicBezTo>
                <a:cubicBezTo>
                  <a:pt x="143692" y="325455"/>
                  <a:pt x="119640" y="335417"/>
                  <a:pt x="94561" y="335417"/>
                </a:cubicBezTo>
                <a:lnTo>
                  <a:pt x="94561" y="335417"/>
                </a:lnTo>
                <a:cubicBezTo>
                  <a:pt x="42336" y="335417"/>
                  <a:pt x="0" y="293081"/>
                  <a:pt x="0" y="240856"/>
                </a:cubicBezTo>
                <a:lnTo>
                  <a:pt x="0" y="94561"/>
                </a:lnTo>
                <a:cubicBezTo>
                  <a:pt x="0" y="69482"/>
                  <a:pt x="9963" y="45430"/>
                  <a:pt x="27696" y="27696"/>
                </a:cubicBezTo>
                <a:cubicBezTo>
                  <a:pt x="45430" y="9963"/>
                  <a:pt x="69482" y="0"/>
                  <a:pt x="9456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525" cap="rnd" cmpd="sng">
            <a:solidFill>
              <a:srgbClr val="E3E2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6"/>
          <p:cNvSpPr txBox="1">
            <a:spLocks noGrp="1"/>
          </p:cNvSpPr>
          <p:nvPr>
            <p:ph type="ctrTitle"/>
          </p:nvPr>
        </p:nvSpPr>
        <p:spPr>
          <a:xfrm>
            <a:off x="1524000" y="2177110"/>
            <a:ext cx="9144000" cy="1575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Montserrat"/>
              <a:buNone/>
              <a:defRPr sz="5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subTitle" idx="1"/>
          </p:nvPr>
        </p:nvSpPr>
        <p:spPr>
          <a:xfrm>
            <a:off x="1524000" y="3978419"/>
            <a:ext cx="9144000" cy="479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9" name="Google Shape;19;p16"/>
          <p:cNvGrpSpPr/>
          <p:nvPr/>
        </p:nvGrpSpPr>
        <p:grpSpPr>
          <a:xfrm>
            <a:off x="-976937" y="6224240"/>
            <a:ext cx="13806152" cy="695377"/>
            <a:chOff x="-976937" y="6224240"/>
            <a:chExt cx="13806152" cy="695377"/>
          </a:xfrm>
        </p:grpSpPr>
        <p:sp>
          <p:nvSpPr>
            <p:cNvPr id="20" name="Google Shape;20;p16"/>
            <p:cNvSpPr/>
            <p:nvPr/>
          </p:nvSpPr>
          <p:spPr>
            <a:xfrm>
              <a:off x="-23900" y="6246143"/>
              <a:ext cx="12270660" cy="673474"/>
            </a:xfrm>
            <a:custGeom>
              <a:avLst/>
              <a:gdLst/>
              <a:ahLst/>
              <a:cxnLst/>
              <a:rect l="l" t="t" r="r" b="b"/>
              <a:pathLst>
                <a:path w="5196983" h="292878" extrusionOk="0">
                  <a:moveTo>
                    <a:pt x="0" y="0"/>
                  </a:moveTo>
                  <a:lnTo>
                    <a:pt x="5196983" y="0"/>
                  </a:lnTo>
                  <a:lnTo>
                    <a:pt x="5196983" y="292878"/>
                  </a:lnTo>
                  <a:lnTo>
                    <a:pt x="0" y="292878"/>
                  </a:lnTo>
                  <a:close/>
                </a:path>
              </a:pathLst>
            </a:custGeom>
            <a:solidFill>
              <a:srgbClr val="021E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6"/>
            <p:cNvSpPr txBox="1"/>
            <p:nvPr/>
          </p:nvSpPr>
          <p:spPr>
            <a:xfrm>
              <a:off x="-976937" y="6224240"/>
              <a:ext cx="13806152" cy="69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5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6"/>
          <p:cNvSpPr/>
          <p:nvPr/>
        </p:nvSpPr>
        <p:spPr>
          <a:xfrm>
            <a:off x="9320436" y="6327065"/>
            <a:ext cx="1234721" cy="452951"/>
          </a:xfrm>
          <a:custGeom>
            <a:avLst/>
            <a:gdLst/>
            <a:ahLst/>
            <a:cxnLst/>
            <a:rect l="l" t="t" r="r" b="b"/>
            <a:pathLst>
              <a:path w="1526466" h="589476" extrusionOk="0">
                <a:moveTo>
                  <a:pt x="0" y="0"/>
                </a:moveTo>
                <a:lnTo>
                  <a:pt x="1526466" y="0"/>
                </a:lnTo>
                <a:lnTo>
                  <a:pt x="1526466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6"/>
          <p:cNvSpPr/>
          <p:nvPr/>
        </p:nvSpPr>
        <p:spPr>
          <a:xfrm>
            <a:off x="10792097" y="6327299"/>
            <a:ext cx="1180960" cy="452951"/>
          </a:xfrm>
          <a:custGeom>
            <a:avLst/>
            <a:gdLst/>
            <a:ahLst/>
            <a:cxnLst/>
            <a:rect l="l" t="t" r="r" b="b"/>
            <a:pathLst>
              <a:path w="1460002" h="589476" extrusionOk="0">
                <a:moveTo>
                  <a:pt x="0" y="0"/>
                </a:moveTo>
                <a:lnTo>
                  <a:pt x="1460002" y="0"/>
                </a:lnTo>
                <a:lnTo>
                  <a:pt x="1460002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6"/>
          <p:cNvSpPr/>
          <p:nvPr/>
        </p:nvSpPr>
        <p:spPr>
          <a:xfrm>
            <a:off x="8105473" y="6336735"/>
            <a:ext cx="1010253" cy="470388"/>
          </a:xfrm>
          <a:custGeom>
            <a:avLst/>
            <a:gdLst/>
            <a:ahLst/>
            <a:cxnLst/>
            <a:rect l="l" t="t" r="r" b="b"/>
            <a:pathLst>
              <a:path w="1248960" h="612169" extrusionOk="0">
                <a:moveTo>
                  <a:pt x="0" y="0"/>
                </a:moveTo>
                <a:lnTo>
                  <a:pt x="1248960" y="0"/>
                </a:lnTo>
                <a:lnTo>
                  <a:pt x="1248960" y="612169"/>
                </a:lnTo>
                <a:lnTo>
                  <a:pt x="0" y="612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595" r="-2119" b="-127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265243" y="638936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11267045" y="289334"/>
            <a:ext cx="6120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Dos objetos">
  <p:cSld name="Título y Dos objetos">
    <p:bg>
      <p:bgPr>
        <a:solidFill>
          <a:srgbClr val="F7F7F3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18"/>
          <p:cNvGrpSpPr/>
          <p:nvPr/>
        </p:nvGrpSpPr>
        <p:grpSpPr>
          <a:xfrm>
            <a:off x="-976937" y="6224240"/>
            <a:ext cx="13806152" cy="695377"/>
            <a:chOff x="-976937" y="6224240"/>
            <a:chExt cx="13806152" cy="695377"/>
          </a:xfrm>
        </p:grpSpPr>
        <p:sp>
          <p:nvSpPr>
            <p:cNvPr id="41" name="Google Shape;41;p18"/>
            <p:cNvSpPr/>
            <p:nvPr/>
          </p:nvSpPr>
          <p:spPr>
            <a:xfrm>
              <a:off x="-23900" y="6246143"/>
              <a:ext cx="12270660" cy="673474"/>
            </a:xfrm>
            <a:custGeom>
              <a:avLst/>
              <a:gdLst/>
              <a:ahLst/>
              <a:cxnLst/>
              <a:rect l="l" t="t" r="r" b="b"/>
              <a:pathLst>
                <a:path w="5196983" h="292878" extrusionOk="0">
                  <a:moveTo>
                    <a:pt x="0" y="0"/>
                  </a:moveTo>
                  <a:lnTo>
                    <a:pt x="5196983" y="0"/>
                  </a:lnTo>
                  <a:lnTo>
                    <a:pt x="5196983" y="292878"/>
                  </a:lnTo>
                  <a:lnTo>
                    <a:pt x="0" y="292878"/>
                  </a:lnTo>
                  <a:close/>
                </a:path>
              </a:pathLst>
            </a:custGeom>
            <a:solidFill>
              <a:srgbClr val="021E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8"/>
            <p:cNvSpPr txBox="1"/>
            <p:nvPr/>
          </p:nvSpPr>
          <p:spPr>
            <a:xfrm>
              <a:off x="-976937" y="6224240"/>
              <a:ext cx="13806152" cy="69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5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18"/>
          <p:cNvSpPr txBox="1">
            <a:spLocks noGrp="1"/>
          </p:cNvSpPr>
          <p:nvPr>
            <p:ph type="body" idx="1"/>
          </p:nvPr>
        </p:nvSpPr>
        <p:spPr>
          <a:xfrm>
            <a:off x="582692" y="1782311"/>
            <a:ext cx="5419524" cy="4161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/>
          <p:nvPr/>
        </p:nvSpPr>
        <p:spPr>
          <a:xfrm>
            <a:off x="9320436" y="6327065"/>
            <a:ext cx="1234721" cy="452951"/>
          </a:xfrm>
          <a:custGeom>
            <a:avLst/>
            <a:gdLst/>
            <a:ahLst/>
            <a:cxnLst/>
            <a:rect l="l" t="t" r="r" b="b"/>
            <a:pathLst>
              <a:path w="1526466" h="589476" extrusionOk="0">
                <a:moveTo>
                  <a:pt x="0" y="0"/>
                </a:moveTo>
                <a:lnTo>
                  <a:pt x="1526466" y="0"/>
                </a:lnTo>
                <a:lnTo>
                  <a:pt x="1526466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8"/>
          <p:cNvSpPr/>
          <p:nvPr/>
        </p:nvSpPr>
        <p:spPr>
          <a:xfrm>
            <a:off x="10792097" y="6327299"/>
            <a:ext cx="1180960" cy="452951"/>
          </a:xfrm>
          <a:custGeom>
            <a:avLst/>
            <a:gdLst/>
            <a:ahLst/>
            <a:cxnLst/>
            <a:rect l="l" t="t" r="r" b="b"/>
            <a:pathLst>
              <a:path w="1460002" h="589476" extrusionOk="0">
                <a:moveTo>
                  <a:pt x="0" y="0"/>
                </a:moveTo>
                <a:lnTo>
                  <a:pt x="1460002" y="0"/>
                </a:lnTo>
                <a:lnTo>
                  <a:pt x="1460002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8"/>
          <p:cNvSpPr/>
          <p:nvPr/>
        </p:nvSpPr>
        <p:spPr>
          <a:xfrm>
            <a:off x="8105473" y="6336735"/>
            <a:ext cx="1010253" cy="470388"/>
          </a:xfrm>
          <a:custGeom>
            <a:avLst/>
            <a:gdLst/>
            <a:ahLst/>
            <a:cxnLst/>
            <a:rect l="l" t="t" r="r" b="b"/>
            <a:pathLst>
              <a:path w="1248960" h="612169" extrusionOk="0">
                <a:moveTo>
                  <a:pt x="0" y="0"/>
                </a:moveTo>
                <a:lnTo>
                  <a:pt x="1248960" y="0"/>
                </a:lnTo>
                <a:lnTo>
                  <a:pt x="1248960" y="612169"/>
                </a:lnTo>
                <a:lnTo>
                  <a:pt x="0" y="612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595" r="-2119" b="-127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8"/>
          <p:cNvSpPr txBox="1">
            <a:spLocks noGrp="1"/>
          </p:cNvSpPr>
          <p:nvPr>
            <p:ph type="dt" idx="10"/>
          </p:nvPr>
        </p:nvSpPr>
        <p:spPr>
          <a:xfrm>
            <a:off x="265243" y="638936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title"/>
          </p:nvPr>
        </p:nvSpPr>
        <p:spPr>
          <a:xfrm>
            <a:off x="582692" y="323089"/>
            <a:ext cx="1068435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 rot="5400000">
            <a:off x="11385673" y="171274"/>
            <a:ext cx="346226" cy="612057"/>
          </a:xfrm>
          <a:custGeom>
            <a:avLst/>
            <a:gdLst/>
            <a:ahLst/>
            <a:cxnLst/>
            <a:rect l="l" t="t" r="r" b="b"/>
            <a:pathLst>
              <a:path w="189122" h="335417" extrusionOk="0">
                <a:moveTo>
                  <a:pt x="94561" y="0"/>
                </a:moveTo>
                <a:lnTo>
                  <a:pt x="94561" y="0"/>
                </a:lnTo>
                <a:cubicBezTo>
                  <a:pt x="146785" y="0"/>
                  <a:pt x="189122" y="42336"/>
                  <a:pt x="189122" y="94561"/>
                </a:cubicBezTo>
                <a:lnTo>
                  <a:pt x="189122" y="240856"/>
                </a:lnTo>
                <a:cubicBezTo>
                  <a:pt x="189122" y="265936"/>
                  <a:pt x="179159" y="289988"/>
                  <a:pt x="161425" y="307721"/>
                </a:cubicBezTo>
                <a:cubicBezTo>
                  <a:pt x="143692" y="325455"/>
                  <a:pt x="119640" y="335417"/>
                  <a:pt x="94561" y="335417"/>
                </a:cubicBezTo>
                <a:lnTo>
                  <a:pt x="94561" y="335417"/>
                </a:lnTo>
                <a:cubicBezTo>
                  <a:pt x="42336" y="335417"/>
                  <a:pt x="0" y="293081"/>
                  <a:pt x="0" y="240856"/>
                </a:cubicBezTo>
                <a:lnTo>
                  <a:pt x="0" y="94561"/>
                </a:lnTo>
                <a:cubicBezTo>
                  <a:pt x="0" y="69482"/>
                  <a:pt x="9963" y="45430"/>
                  <a:pt x="27696" y="27696"/>
                </a:cubicBezTo>
                <a:cubicBezTo>
                  <a:pt x="45430" y="9963"/>
                  <a:pt x="69482" y="0"/>
                  <a:pt x="9456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52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8"/>
          <p:cNvSpPr txBox="1"/>
          <p:nvPr/>
        </p:nvSpPr>
        <p:spPr>
          <a:xfrm>
            <a:off x="11267045" y="289334"/>
            <a:ext cx="6120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2"/>
          </p:nvPr>
        </p:nvSpPr>
        <p:spPr>
          <a:xfrm>
            <a:off x="6189785" y="1782311"/>
            <a:ext cx="5669773" cy="4161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>
  <p:cSld name="Comparación">
    <p:bg>
      <p:bgPr>
        <a:solidFill>
          <a:srgbClr val="F7F7F3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19"/>
          <p:cNvGrpSpPr/>
          <p:nvPr/>
        </p:nvGrpSpPr>
        <p:grpSpPr>
          <a:xfrm>
            <a:off x="-976937" y="6224240"/>
            <a:ext cx="13806152" cy="695377"/>
            <a:chOff x="-976937" y="6224240"/>
            <a:chExt cx="13806152" cy="695377"/>
          </a:xfrm>
        </p:grpSpPr>
        <p:sp>
          <p:nvSpPr>
            <p:cNvPr id="54" name="Google Shape;54;p19"/>
            <p:cNvSpPr/>
            <p:nvPr/>
          </p:nvSpPr>
          <p:spPr>
            <a:xfrm>
              <a:off x="-23900" y="6246143"/>
              <a:ext cx="12270660" cy="673474"/>
            </a:xfrm>
            <a:custGeom>
              <a:avLst/>
              <a:gdLst/>
              <a:ahLst/>
              <a:cxnLst/>
              <a:rect l="l" t="t" r="r" b="b"/>
              <a:pathLst>
                <a:path w="5196983" h="292878" extrusionOk="0">
                  <a:moveTo>
                    <a:pt x="0" y="0"/>
                  </a:moveTo>
                  <a:lnTo>
                    <a:pt x="5196983" y="0"/>
                  </a:lnTo>
                  <a:lnTo>
                    <a:pt x="5196983" y="292878"/>
                  </a:lnTo>
                  <a:lnTo>
                    <a:pt x="0" y="292878"/>
                  </a:lnTo>
                  <a:close/>
                </a:path>
              </a:pathLst>
            </a:custGeom>
            <a:solidFill>
              <a:srgbClr val="021E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9"/>
            <p:cNvSpPr txBox="1"/>
            <p:nvPr/>
          </p:nvSpPr>
          <p:spPr>
            <a:xfrm>
              <a:off x="-976937" y="6224240"/>
              <a:ext cx="13806152" cy="69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5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559246" y="2244074"/>
            <a:ext cx="5414883" cy="698418"/>
          </a:xfrm>
          <a:prstGeom prst="rect">
            <a:avLst/>
          </a:prstGeom>
          <a:solidFill>
            <a:srgbClr val="1C3E7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7F7F3"/>
              </a:buClr>
              <a:buSzPts val="2000"/>
              <a:buNone/>
              <a:defRPr sz="2000" b="1">
                <a:solidFill>
                  <a:srgbClr val="F7F7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19"/>
          <p:cNvSpPr/>
          <p:nvPr/>
        </p:nvSpPr>
        <p:spPr>
          <a:xfrm>
            <a:off x="9320436" y="6327065"/>
            <a:ext cx="1234721" cy="452951"/>
          </a:xfrm>
          <a:custGeom>
            <a:avLst/>
            <a:gdLst/>
            <a:ahLst/>
            <a:cxnLst/>
            <a:rect l="l" t="t" r="r" b="b"/>
            <a:pathLst>
              <a:path w="1526466" h="589476" extrusionOk="0">
                <a:moveTo>
                  <a:pt x="0" y="0"/>
                </a:moveTo>
                <a:lnTo>
                  <a:pt x="1526466" y="0"/>
                </a:lnTo>
                <a:lnTo>
                  <a:pt x="1526466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9"/>
          <p:cNvSpPr/>
          <p:nvPr/>
        </p:nvSpPr>
        <p:spPr>
          <a:xfrm>
            <a:off x="10792097" y="6327299"/>
            <a:ext cx="1180960" cy="452951"/>
          </a:xfrm>
          <a:custGeom>
            <a:avLst/>
            <a:gdLst/>
            <a:ahLst/>
            <a:cxnLst/>
            <a:rect l="l" t="t" r="r" b="b"/>
            <a:pathLst>
              <a:path w="1460002" h="589476" extrusionOk="0">
                <a:moveTo>
                  <a:pt x="0" y="0"/>
                </a:moveTo>
                <a:lnTo>
                  <a:pt x="1460002" y="0"/>
                </a:lnTo>
                <a:lnTo>
                  <a:pt x="1460002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9"/>
          <p:cNvSpPr/>
          <p:nvPr/>
        </p:nvSpPr>
        <p:spPr>
          <a:xfrm>
            <a:off x="8105473" y="6336735"/>
            <a:ext cx="1010253" cy="470388"/>
          </a:xfrm>
          <a:custGeom>
            <a:avLst/>
            <a:gdLst/>
            <a:ahLst/>
            <a:cxnLst/>
            <a:rect l="l" t="t" r="r" b="b"/>
            <a:pathLst>
              <a:path w="1248960" h="612169" extrusionOk="0">
                <a:moveTo>
                  <a:pt x="0" y="0"/>
                </a:moveTo>
                <a:lnTo>
                  <a:pt x="1248960" y="0"/>
                </a:lnTo>
                <a:lnTo>
                  <a:pt x="1248960" y="612169"/>
                </a:lnTo>
                <a:lnTo>
                  <a:pt x="0" y="612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595" r="-2119" b="-127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9"/>
          <p:cNvSpPr txBox="1"/>
          <p:nvPr/>
        </p:nvSpPr>
        <p:spPr>
          <a:xfrm>
            <a:off x="265243" y="638936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miércoles, 29 de octubre de 2025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19"/>
          <p:cNvSpPr txBox="1">
            <a:spLocks noGrp="1"/>
          </p:cNvSpPr>
          <p:nvPr>
            <p:ph type="title"/>
          </p:nvPr>
        </p:nvSpPr>
        <p:spPr>
          <a:xfrm>
            <a:off x="582692" y="323089"/>
            <a:ext cx="1068435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/>
          <p:nvPr/>
        </p:nvSpPr>
        <p:spPr>
          <a:xfrm rot="5400000">
            <a:off x="11385673" y="171274"/>
            <a:ext cx="346226" cy="612057"/>
          </a:xfrm>
          <a:custGeom>
            <a:avLst/>
            <a:gdLst/>
            <a:ahLst/>
            <a:cxnLst/>
            <a:rect l="l" t="t" r="r" b="b"/>
            <a:pathLst>
              <a:path w="189122" h="335417" extrusionOk="0">
                <a:moveTo>
                  <a:pt x="94561" y="0"/>
                </a:moveTo>
                <a:lnTo>
                  <a:pt x="94561" y="0"/>
                </a:lnTo>
                <a:cubicBezTo>
                  <a:pt x="146785" y="0"/>
                  <a:pt x="189122" y="42336"/>
                  <a:pt x="189122" y="94561"/>
                </a:cubicBezTo>
                <a:lnTo>
                  <a:pt x="189122" y="240856"/>
                </a:lnTo>
                <a:cubicBezTo>
                  <a:pt x="189122" y="265936"/>
                  <a:pt x="179159" y="289988"/>
                  <a:pt x="161425" y="307721"/>
                </a:cubicBezTo>
                <a:cubicBezTo>
                  <a:pt x="143692" y="325455"/>
                  <a:pt x="119640" y="335417"/>
                  <a:pt x="94561" y="335417"/>
                </a:cubicBezTo>
                <a:lnTo>
                  <a:pt x="94561" y="335417"/>
                </a:lnTo>
                <a:cubicBezTo>
                  <a:pt x="42336" y="335417"/>
                  <a:pt x="0" y="293081"/>
                  <a:pt x="0" y="240856"/>
                </a:cubicBezTo>
                <a:lnTo>
                  <a:pt x="0" y="94561"/>
                </a:lnTo>
                <a:cubicBezTo>
                  <a:pt x="0" y="69482"/>
                  <a:pt x="9963" y="45430"/>
                  <a:pt x="27696" y="27696"/>
                </a:cubicBezTo>
                <a:cubicBezTo>
                  <a:pt x="45430" y="9963"/>
                  <a:pt x="69482" y="0"/>
                  <a:pt x="9456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52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9"/>
          <p:cNvSpPr txBox="1"/>
          <p:nvPr/>
        </p:nvSpPr>
        <p:spPr>
          <a:xfrm>
            <a:off x="11267045" y="289334"/>
            <a:ext cx="6120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2"/>
          </p:nvPr>
        </p:nvSpPr>
        <p:spPr>
          <a:xfrm>
            <a:off x="554605" y="3233113"/>
            <a:ext cx="5419524" cy="2602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body" idx="3"/>
          </p:nvPr>
        </p:nvSpPr>
        <p:spPr>
          <a:xfrm>
            <a:off x="6134745" y="3233113"/>
            <a:ext cx="5706624" cy="2602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body" idx="4"/>
          </p:nvPr>
        </p:nvSpPr>
        <p:spPr>
          <a:xfrm>
            <a:off x="6134745" y="2234877"/>
            <a:ext cx="5744358" cy="698418"/>
          </a:xfrm>
          <a:prstGeom prst="rect">
            <a:avLst/>
          </a:prstGeom>
          <a:solidFill>
            <a:srgbClr val="1C3E7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7F7F3"/>
              </a:buClr>
              <a:buSzPts val="2000"/>
              <a:buNone/>
              <a:defRPr sz="2000" b="1">
                <a:solidFill>
                  <a:srgbClr val="F7F7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>
  <p:cSld name="Imagen con título">
    <p:bg>
      <p:bgPr>
        <a:solidFill>
          <a:srgbClr val="F7F7F3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20"/>
          <p:cNvGrpSpPr/>
          <p:nvPr/>
        </p:nvGrpSpPr>
        <p:grpSpPr>
          <a:xfrm>
            <a:off x="-976937" y="6224240"/>
            <a:ext cx="13806152" cy="695377"/>
            <a:chOff x="-976937" y="6224240"/>
            <a:chExt cx="13806152" cy="695377"/>
          </a:xfrm>
        </p:grpSpPr>
        <p:sp>
          <p:nvSpPr>
            <p:cNvPr id="69" name="Google Shape;69;p20"/>
            <p:cNvSpPr/>
            <p:nvPr/>
          </p:nvSpPr>
          <p:spPr>
            <a:xfrm>
              <a:off x="-23900" y="6246143"/>
              <a:ext cx="12270660" cy="673474"/>
            </a:xfrm>
            <a:custGeom>
              <a:avLst/>
              <a:gdLst/>
              <a:ahLst/>
              <a:cxnLst/>
              <a:rect l="l" t="t" r="r" b="b"/>
              <a:pathLst>
                <a:path w="5196983" h="292878" extrusionOk="0">
                  <a:moveTo>
                    <a:pt x="0" y="0"/>
                  </a:moveTo>
                  <a:lnTo>
                    <a:pt x="5196983" y="0"/>
                  </a:lnTo>
                  <a:lnTo>
                    <a:pt x="5196983" y="292878"/>
                  </a:lnTo>
                  <a:lnTo>
                    <a:pt x="0" y="292878"/>
                  </a:lnTo>
                  <a:close/>
                </a:path>
              </a:pathLst>
            </a:custGeom>
            <a:solidFill>
              <a:srgbClr val="021E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0"/>
            <p:cNvSpPr txBox="1"/>
            <p:nvPr/>
          </p:nvSpPr>
          <p:spPr>
            <a:xfrm>
              <a:off x="-976937" y="6224240"/>
              <a:ext cx="13806152" cy="69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5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p20"/>
          <p:cNvSpPr>
            <a:spLocks noGrp="1"/>
          </p:cNvSpPr>
          <p:nvPr>
            <p:ph type="pic" idx="2"/>
          </p:nvPr>
        </p:nvSpPr>
        <p:spPr>
          <a:xfrm>
            <a:off x="5744308" y="1090246"/>
            <a:ext cx="5514120" cy="4368434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0"/>
          <p:cNvSpPr txBox="1">
            <a:spLocks noGrp="1"/>
          </p:cNvSpPr>
          <p:nvPr>
            <p:ph type="title"/>
          </p:nvPr>
        </p:nvSpPr>
        <p:spPr>
          <a:xfrm>
            <a:off x="838200" y="457200"/>
            <a:ext cx="3932237" cy="181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body" idx="1"/>
          </p:nvPr>
        </p:nvSpPr>
        <p:spPr>
          <a:xfrm>
            <a:off x="838201" y="2469153"/>
            <a:ext cx="3932237" cy="3444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0"/>
          <p:cNvSpPr/>
          <p:nvPr/>
        </p:nvSpPr>
        <p:spPr>
          <a:xfrm rot="5400000">
            <a:off x="11385673" y="171274"/>
            <a:ext cx="346226" cy="612057"/>
          </a:xfrm>
          <a:custGeom>
            <a:avLst/>
            <a:gdLst/>
            <a:ahLst/>
            <a:cxnLst/>
            <a:rect l="l" t="t" r="r" b="b"/>
            <a:pathLst>
              <a:path w="189122" h="335417" extrusionOk="0">
                <a:moveTo>
                  <a:pt x="94561" y="0"/>
                </a:moveTo>
                <a:lnTo>
                  <a:pt x="94561" y="0"/>
                </a:lnTo>
                <a:cubicBezTo>
                  <a:pt x="146785" y="0"/>
                  <a:pt x="189122" y="42336"/>
                  <a:pt x="189122" y="94561"/>
                </a:cubicBezTo>
                <a:lnTo>
                  <a:pt x="189122" y="240856"/>
                </a:lnTo>
                <a:cubicBezTo>
                  <a:pt x="189122" y="265936"/>
                  <a:pt x="179159" y="289988"/>
                  <a:pt x="161425" y="307721"/>
                </a:cubicBezTo>
                <a:cubicBezTo>
                  <a:pt x="143692" y="325455"/>
                  <a:pt x="119640" y="335417"/>
                  <a:pt x="94561" y="335417"/>
                </a:cubicBezTo>
                <a:lnTo>
                  <a:pt x="94561" y="335417"/>
                </a:lnTo>
                <a:cubicBezTo>
                  <a:pt x="42336" y="335417"/>
                  <a:pt x="0" y="293081"/>
                  <a:pt x="0" y="240856"/>
                </a:cubicBezTo>
                <a:lnTo>
                  <a:pt x="0" y="94561"/>
                </a:lnTo>
                <a:cubicBezTo>
                  <a:pt x="0" y="69482"/>
                  <a:pt x="9963" y="45430"/>
                  <a:pt x="27696" y="27696"/>
                </a:cubicBezTo>
                <a:cubicBezTo>
                  <a:pt x="45430" y="9963"/>
                  <a:pt x="69482" y="0"/>
                  <a:pt x="9456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52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0"/>
          <p:cNvSpPr txBox="1"/>
          <p:nvPr/>
        </p:nvSpPr>
        <p:spPr>
          <a:xfrm>
            <a:off x="11267045" y="289334"/>
            <a:ext cx="6120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0"/>
          <p:cNvSpPr/>
          <p:nvPr/>
        </p:nvSpPr>
        <p:spPr>
          <a:xfrm>
            <a:off x="9320436" y="6327065"/>
            <a:ext cx="1234721" cy="452951"/>
          </a:xfrm>
          <a:custGeom>
            <a:avLst/>
            <a:gdLst/>
            <a:ahLst/>
            <a:cxnLst/>
            <a:rect l="l" t="t" r="r" b="b"/>
            <a:pathLst>
              <a:path w="1526466" h="589476" extrusionOk="0">
                <a:moveTo>
                  <a:pt x="0" y="0"/>
                </a:moveTo>
                <a:lnTo>
                  <a:pt x="1526466" y="0"/>
                </a:lnTo>
                <a:lnTo>
                  <a:pt x="1526466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0"/>
          <p:cNvSpPr/>
          <p:nvPr/>
        </p:nvSpPr>
        <p:spPr>
          <a:xfrm>
            <a:off x="10792097" y="6327299"/>
            <a:ext cx="1180960" cy="452951"/>
          </a:xfrm>
          <a:custGeom>
            <a:avLst/>
            <a:gdLst/>
            <a:ahLst/>
            <a:cxnLst/>
            <a:rect l="l" t="t" r="r" b="b"/>
            <a:pathLst>
              <a:path w="1460002" h="589476" extrusionOk="0">
                <a:moveTo>
                  <a:pt x="0" y="0"/>
                </a:moveTo>
                <a:lnTo>
                  <a:pt x="1460002" y="0"/>
                </a:lnTo>
                <a:lnTo>
                  <a:pt x="1460002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0"/>
          <p:cNvSpPr/>
          <p:nvPr/>
        </p:nvSpPr>
        <p:spPr>
          <a:xfrm>
            <a:off x="8105473" y="6336735"/>
            <a:ext cx="1010253" cy="470388"/>
          </a:xfrm>
          <a:custGeom>
            <a:avLst/>
            <a:gdLst/>
            <a:ahLst/>
            <a:cxnLst/>
            <a:rect l="l" t="t" r="r" b="b"/>
            <a:pathLst>
              <a:path w="1248960" h="612169" extrusionOk="0">
                <a:moveTo>
                  <a:pt x="0" y="0"/>
                </a:moveTo>
                <a:lnTo>
                  <a:pt x="1248960" y="0"/>
                </a:lnTo>
                <a:lnTo>
                  <a:pt x="1248960" y="612169"/>
                </a:lnTo>
                <a:lnTo>
                  <a:pt x="0" y="612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595" r="-2119" b="-127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0"/>
          <p:cNvSpPr txBox="1"/>
          <p:nvPr/>
        </p:nvSpPr>
        <p:spPr>
          <a:xfrm>
            <a:off x="265243" y="638936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miércoles, 29 de octubre de 2025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bg>
      <p:bgPr>
        <a:solidFill>
          <a:srgbClr val="F7F7F3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21"/>
          <p:cNvGrpSpPr/>
          <p:nvPr/>
        </p:nvGrpSpPr>
        <p:grpSpPr>
          <a:xfrm>
            <a:off x="-976937" y="6224240"/>
            <a:ext cx="13806152" cy="695377"/>
            <a:chOff x="-976937" y="6224240"/>
            <a:chExt cx="13806152" cy="695377"/>
          </a:xfrm>
        </p:grpSpPr>
        <p:sp>
          <p:nvSpPr>
            <p:cNvPr id="82" name="Google Shape;82;p21"/>
            <p:cNvSpPr/>
            <p:nvPr/>
          </p:nvSpPr>
          <p:spPr>
            <a:xfrm>
              <a:off x="-23900" y="6246143"/>
              <a:ext cx="12270660" cy="673474"/>
            </a:xfrm>
            <a:custGeom>
              <a:avLst/>
              <a:gdLst/>
              <a:ahLst/>
              <a:cxnLst/>
              <a:rect l="l" t="t" r="r" b="b"/>
              <a:pathLst>
                <a:path w="5196983" h="292878" extrusionOk="0">
                  <a:moveTo>
                    <a:pt x="0" y="0"/>
                  </a:moveTo>
                  <a:lnTo>
                    <a:pt x="5196983" y="0"/>
                  </a:lnTo>
                  <a:lnTo>
                    <a:pt x="5196983" y="292878"/>
                  </a:lnTo>
                  <a:lnTo>
                    <a:pt x="0" y="292878"/>
                  </a:lnTo>
                  <a:close/>
                </a:path>
              </a:pathLst>
            </a:custGeom>
            <a:solidFill>
              <a:srgbClr val="021E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1"/>
            <p:cNvSpPr txBox="1"/>
            <p:nvPr/>
          </p:nvSpPr>
          <p:spPr>
            <a:xfrm>
              <a:off x="-976937" y="6224240"/>
              <a:ext cx="13806152" cy="69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5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838200" y="457200"/>
            <a:ext cx="3932237" cy="181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body" idx="1"/>
          </p:nvPr>
        </p:nvSpPr>
        <p:spPr>
          <a:xfrm>
            <a:off x="4944207" y="468630"/>
            <a:ext cx="6157547" cy="5456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body" idx="2"/>
          </p:nvPr>
        </p:nvSpPr>
        <p:spPr>
          <a:xfrm>
            <a:off x="838201" y="2469153"/>
            <a:ext cx="3932237" cy="3444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21"/>
          <p:cNvSpPr/>
          <p:nvPr/>
        </p:nvSpPr>
        <p:spPr>
          <a:xfrm rot="5400000">
            <a:off x="11385673" y="171274"/>
            <a:ext cx="346226" cy="612057"/>
          </a:xfrm>
          <a:custGeom>
            <a:avLst/>
            <a:gdLst/>
            <a:ahLst/>
            <a:cxnLst/>
            <a:rect l="l" t="t" r="r" b="b"/>
            <a:pathLst>
              <a:path w="189122" h="335417" extrusionOk="0">
                <a:moveTo>
                  <a:pt x="94561" y="0"/>
                </a:moveTo>
                <a:lnTo>
                  <a:pt x="94561" y="0"/>
                </a:lnTo>
                <a:cubicBezTo>
                  <a:pt x="146785" y="0"/>
                  <a:pt x="189122" y="42336"/>
                  <a:pt x="189122" y="94561"/>
                </a:cubicBezTo>
                <a:lnTo>
                  <a:pt x="189122" y="240856"/>
                </a:lnTo>
                <a:cubicBezTo>
                  <a:pt x="189122" y="265936"/>
                  <a:pt x="179159" y="289988"/>
                  <a:pt x="161425" y="307721"/>
                </a:cubicBezTo>
                <a:cubicBezTo>
                  <a:pt x="143692" y="325455"/>
                  <a:pt x="119640" y="335417"/>
                  <a:pt x="94561" y="335417"/>
                </a:cubicBezTo>
                <a:lnTo>
                  <a:pt x="94561" y="335417"/>
                </a:lnTo>
                <a:cubicBezTo>
                  <a:pt x="42336" y="335417"/>
                  <a:pt x="0" y="293081"/>
                  <a:pt x="0" y="240856"/>
                </a:cubicBezTo>
                <a:lnTo>
                  <a:pt x="0" y="94561"/>
                </a:lnTo>
                <a:cubicBezTo>
                  <a:pt x="0" y="69482"/>
                  <a:pt x="9963" y="45430"/>
                  <a:pt x="27696" y="27696"/>
                </a:cubicBezTo>
                <a:cubicBezTo>
                  <a:pt x="45430" y="9963"/>
                  <a:pt x="69482" y="0"/>
                  <a:pt x="9456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52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1"/>
          <p:cNvSpPr txBox="1"/>
          <p:nvPr/>
        </p:nvSpPr>
        <p:spPr>
          <a:xfrm>
            <a:off x="11267045" y="289334"/>
            <a:ext cx="6120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1"/>
          <p:cNvSpPr/>
          <p:nvPr/>
        </p:nvSpPr>
        <p:spPr>
          <a:xfrm>
            <a:off x="9320436" y="6327065"/>
            <a:ext cx="1234721" cy="452951"/>
          </a:xfrm>
          <a:custGeom>
            <a:avLst/>
            <a:gdLst/>
            <a:ahLst/>
            <a:cxnLst/>
            <a:rect l="l" t="t" r="r" b="b"/>
            <a:pathLst>
              <a:path w="1526466" h="589476" extrusionOk="0">
                <a:moveTo>
                  <a:pt x="0" y="0"/>
                </a:moveTo>
                <a:lnTo>
                  <a:pt x="1526466" y="0"/>
                </a:lnTo>
                <a:lnTo>
                  <a:pt x="1526466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1"/>
          <p:cNvSpPr/>
          <p:nvPr/>
        </p:nvSpPr>
        <p:spPr>
          <a:xfrm>
            <a:off x="10792097" y="6327299"/>
            <a:ext cx="1180960" cy="452951"/>
          </a:xfrm>
          <a:custGeom>
            <a:avLst/>
            <a:gdLst/>
            <a:ahLst/>
            <a:cxnLst/>
            <a:rect l="l" t="t" r="r" b="b"/>
            <a:pathLst>
              <a:path w="1460002" h="589476" extrusionOk="0">
                <a:moveTo>
                  <a:pt x="0" y="0"/>
                </a:moveTo>
                <a:lnTo>
                  <a:pt x="1460002" y="0"/>
                </a:lnTo>
                <a:lnTo>
                  <a:pt x="1460002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1"/>
          <p:cNvSpPr/>
          <p:nvPr/>
        </p:nvSpPr>
        <p:spPr>
          <a:xfrm>
            <a:off x="8105473" y="6336735"/>
            <a:ext cx="1010253" cy="470388"/>
          </a:xfrm>
          <a:custGeom>
            <a:avLst/>
            <a:gdLst/>
            <a:ahLst/>
            <a:cxnLst/>
            <a:rect l="l" t="t" r="r" b="b"/>
            <a:pathLst>
              <a:path w="1248960" h="612169" extrusionOk="0">
                <a:moveTo>
                  <a:pt x="0" y="0"/>
                </a:moveTo>
                <a:lnTo>
                  <a:pt x="1248960" y="0"/>
                </a:lnTo>
                <a:lnTo>
                  <a:pt x="1248960" y="612169"/>
                </a:lnTo>
                <a:lnTo>
                  <a:pt x="0" y="612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595" r="-2119" b="-127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1"/>
          <p:cNvSpPr txBox="1"/>
          <p:nvPr/>
        </p:nvSpPr>
        <p:spPr>
          <a:xfrm>
            <a:off x="265243" y="638936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miércoles, 29 de octubre de 2025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>
            <a:spLocks noGrp="1"/>
          </p:cNvSpPr>
          <p:nvPr>
            <p:ph type="ctrTitle"/>
          </p:nvPr>
        </p:nvSpPr>
        <p:spPr>
          <a:xfrm>
            <a:off x="1524001" y="1534172"/>
            <a:ext cx="9144000" cy="934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entury Gothic"/>
              <a:buNone/>
            </a:pPr>
            <a:r>
              <a:rPr lang="es-MX" dirty="0"/>
              <a:t>PROJECT SAFE CLAIM </a:t>
            </a:r>
            <a:endParaRPr dirty="0"/>
          </a:p>
        </p:txBody>
      </p:sp>
      <p:sp>
        <p:nvSpPr>
          <p:cNvPr id="98" name="Google Shape;98;p1"/>
          <p:cNvSpPr txBox="1">
            <a:spLocks noGrp="1"/>
          </p:cNvSpPr>
          <p:nvPr>
            <p:ph type="subTitle" idx="1"/>
          </p:nvPr>
        </p:nvSpPr>
        <p:spPr>
          <a:xfrm>
            <a:off x="1523999" y="2454597"/>
            <a:ext cx="3848101" cy="348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MX" dirty="0"/>
              <a:t>Grupo #10</a:t>
            </a: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lang="es-MX" dirty="0"/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MX" dirty="0"/>
              <a:t>Integrantes:</a:t>
            </a:r>
          </a:p>
          <a:p>
            <a:pPr marL="342900" lvl="0" indent="-3429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s-MX" dirty="0"/>
              <a:t>García </a:t>
            </a:r>
            <a:r>
              <a:rPr lang="es-MX" dirty="0" err="1"/>
              <a:t>Gianny</a:t>
            </a:r>
            <a:endParaRPr lang="es-MX" dirty="0"/>
          </a:p>
          <a:p>
            <a:pPr marL="342900" lvl="0" indent="-3429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s-MX" dirty="0"/>
              <a:t>Herrera Gabriela</a:t>
            </a:r>
          </a:p>
          <a:p>
            <a:pPr marL="342900" lvl="0" indent="-3429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s-MX" dirty="0"/>
              <a:t>Rubira Ivonne</a:t>
            </a:r>
          </a:p>
          <a:p>
            <a:pPr marL="342900" lvl="0" indent="-3429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s-MX" dirty="0"/>
              <a:t>Vergara </a:t>
            </a:r>
            <a:r>
              <a:rPr lang="es-MX" dirty="0" err="1"/>
              <a:t>Nagelly</a:t>
            </a:r>
            <a:endParaRPr lang="es-MX" dirty="0"/>
          </a:p>
          <a:p>
            <a:pPr marL="342900" lvl="0" indent="-3429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s-MX" dirty="0"/>
              <a:t>Cevallos Luis</a:t>
            </a:r>
            <a:endParaRPr dirty="0"/>
          </a:p>
        </p:txBody>
      </p:sp>
      <p:sp>
        <p:nvSpPr>
          <p:cNvPr id="99" name="Google Shape;99;p1"/>
          <p:cNvSpPr txBox="1">
            <a:spLocks noGrp="1"/>
          </p:cNvSpPr>
          <p:nvPr>
            <p:ph type="dt" idx="10"/>
          </p:nvPr>
        </p:nvSpPr>
        <p:spPr>
          <a:xfrm>
            <a:off x="265243" y="638936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Montserrat"/>
                <a:ea typeface="Montserrat"/>
                <a:cs typeface="Montserrat"/>
                <a:sym typeface="Montserrat"/>
              </a:rPr>
              <a:t>sábado, 15de </a:t>
            </a:r>
            <a:r>
              <a:rPr lang="es-ES" dirty="0"/>
              <a:t>noviembre</a:t>
            </a:r>
            <a:r>
              <a:rPr lang="es-ES" dirty="0">
                <a:latin typeface="Montserrat"/>
                <a:ea typeface="Montserrat"/>
                <a:cs typeface="Montserrat"/>
                <a:sym typeface="Montserrat"/>
              </a:rPr>
              <a:t> de 2025</a:t>
            </a:r>
            <a:endParaRPr dirty="0"/>
          </a:p>
        </p:txBody>
      </p:sp>
      <p:sp>
        <p:nvSpPr>
          <p:cNvPr id="100" name="Google Shape;100;p1"/>
          <p:cNvSpPr txBox="1">
            <a:spLocks noGrp="1"/>
          </p:cNvSpPr>
          <p:nvPr>
            <p:ph type="sldNum" idx="12"/>
          </p:nvPr>
        </p:nvSpPr>
        <p:spPr>
          <a:xfrm>
            <a:off x="11267045" y="289334"/>
            <a:ext cx="6120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03b2a34a6_1_74"/>
          <p:cNvSpPr txBox="1">
            <a:spLocks noGrp="1"/>
          </p:cNvSpPr>
          <p:nvPr>
            <p:ph type="title"/>
          </p:nvPr>
        </p:nvSpPr>
        <p:spPr>
          <a:xfrm>
            <a:off x="536972" y="968414"/>
            <a:ext cx="106845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¿Qué factores están realmente asociados a que un reclamo sea fraudulento?</a:t>
            </a:r>
            <a:endParaRPr dirty="0"/>
          </a:p>
        </p:txBody>
      </p:sp>
      <p:sp>
        <p:nvSpPr>
          <p:cNvPr id="6" name="Google Shape;171;g3a03b2a34a6_1_74">
            <a:extLst>
              <a:ext uri="{FF2B5EF4-FFF2-40B4-BE49-F238E27FC236}">
                <a16:creationId xmlns:a16="http://schemas.microsoft.com/office/drawing/2014/main" id="{BEE9F7B1-C633-4BD6-8D28-BA13C54E87D4}"/>
              </a:ext>
            </a:extLst>
          </p:cNvPr>
          <p:cNvSpPr txBox="1">
            <a:spLocks/>
          </p:cNvSpPr>
          <p:nvPr/>
        </p:nvSpPr>
        <p:spPr>
          <a:xfrm>
            <a:off x="536972" y="2766150"/>
            <a:ext cx="10684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6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3600" b="0" dirty="0"/>
              <a:t>Basado en el fraude que incurre en los seguros de autos, un análisis que busca responder a una pregunta crucial para las aseguradoras</a:t>
            </a:r>
          </a:p>
          <a:p>
            <a:endParaRPr lang="es-MX" sz="3600" b="0" dirty="0"/>
          </a:p>
          <a:p>
            <a:r>
              <a:rPr lang="es-MX" sz="3600" b="0" dirty="0"/>
              <a:t>Buscamos identificar patrones asociados al fraude.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03b2a34a6_1_98"/>
          <p:cNvSpPr txBox="1">
            <a:spLocks noGrp="1"/>
          </p:cNvSpPr>
          <p:nvPr>
            <p:ph type="dt" idx="10"/>
          </p:nvPr>
        </p:nvSpPr>
        <p:spPr>
          <a:xfrm>
            <a:off x="265243" y="635940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6 de noviembre de 2025</a:t>
            </a:r>
            <a:endParaRPr/>
          </a:p>
        </p:txBody>
      </p:sp>
      <p:sp>
        <p:nvSpPr>
          <p:cNvPr id="179" name="Google Shape;179;g3a03b2a34a6_1_98"/>
          <p:cNvSpPr txBox="1">
            <a:spLocks noGrp="1"/>
          </p:cNvSpPr>
          <p:nvPr>
            <p:ph type="title"/>
          </p:nvPr>
        </p:nvSpPr>
        <p:spPr>
          <a:xfrm>
            <a:off x="2847974" y="215085"/>
            <a:ext cx="6496051" cy="1008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lang="es-MX" sz="2000" dirty="0" err="1"/>
              <a:t>Insight</a:t>
            </a:r>
            <a:r>
              <a:rPr lang="es-MX" sz="2000" dirty="0"/>
              <a:t> 1: Riesgo según tipo de vehículo </a:t>
            </a:r>
            <a:endParaRPr sz="4400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C721729-A4BD-4555-87AD-73509C155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530" y="1223144"/>
            <a:ext cx="6738939" cy="49554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03b2a34a6_1_98"/>
          <p:cNvSpPr txBox="1">
            <a:spLocks noGrp="1"/>
          </p:cNvSpPr>
          <p:nvPr>
            <p:ph type="dt" idx="10"/>
          </p:nvPr>
        </p:nvSpPr>
        <p:spPr>
          <a:xfrm>
            <a:off x="265243" y="635940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6 de noviembre de 2025</a:t>
            </a:r>
            <a:endParaRPr/>
          </a:p>
        </p:txBody>
      </p:sp>
      <p:sp>
        <p:nvSpPr>
          <p:cNvPr id="179" name="Google Shape;179;g3a03b2a34a6_1_98"/>
          <p:cNvSpPr txBox="1">
            <a:spLocks noGrp="1"/>
          </p:cNvSpPr>
          <p:nvPr>
            <p:ph type="title"/>
          </p:nvPr>
        </p:nvSpPr>
        <p:spPr>
          <a:xfrm>
            <a:off x="3420665" y="400050"/>
            <a:ext cx="5350669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lang="es-MX" sz="2000" dirty="0" err="1"/>
              <a:t>Insight</a:t>
            </a:r>
            <a:r>
              <a:rPr lang="es-MX" sz="2000" dirty="0"/>
              <a:t> 2: Antigüedad del vehículo </a:t>
            </a:r>
            <a:endParaRPr sz="4400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D4898A9-86DE-4A49-BD7D-84D22B64E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4877" y="1271588"/>
            <a:ext cx="7082245" cy="486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829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03b2a34a6_1_98"/>
          <p:cNvSpPr txBox="1">
            <a:spLocks noGrp="1"/>
          </p:cNvSpPr>
          <p:nvPr>
            <p:ph type="dt" idx="10"/>
          </p:nvPr>
        </p:nvSpPr>
        <p:spPr>
          <a:xfrm>
            <a:off x="265243" y="635940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6 de noviembre de 2025</a:t>
            </a:r>
            <a:endParaRPr/>
          </a:p>
        </p:txBody>
      </p:sp>
      <p:sp>
        <p:nvSpPr>
          <p:cNvPr id="179" name="Google Shape;179;g3a03b2a34a6_1_98"/>
          <p:cNvSpPr txBox="1">
            <a:spLocks noGrp="1"/>
          </p:cNvSpPr>
          <p:nvPr>
            <p:ph type="title"/>
          </p:nvPr>
        </p:nvSpPr>
        <p:spPr>
          <a:xfrm>
            <a:off x="3358658" y="200025"/>
            <a:ext cx="5474683" cy="74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lang="es-MX" sz="2400" dirty="0" err="1"/>
              <a:t>Insight</a:t>
            </a:r>
            <a:r>
              <a:rPr lang="es-MX" sz="2400" dirty="0"/>
              <a:t> 3: Evidencia del reclamo </a:t>
            </a:r>
            <a:endParaRPr sz="4400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7B5A40D-1D7D-496A-87F6-3A883514E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820" y="941814"/>
            <a:ext cx="7278359" cy="473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688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03b2a34a6_1_98"/>
          <p:cNvSpPr txBox="1">
            <a:spLocks noGrp="1"/>
          </p:cNvSpPr>
          <p:nvPr>
            <p:ph type="dt" idx="10"/>
          </p:nvPr>
        </p:nvSpPr>
        <p:spPr>
          <a:xfrm>
            <a:off x="265243" y="635940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6 de noviembre de 2025</a:t>
            </a:r>
            <a:endParaRPr/>
          </a:p>
        </p:txBody>
      </p:sp>
      <p:sp>
        <p:nvSpPr>
          <p:cNvPr id="179" name="Google Shape;179;g3a03b2a34a6_1_98"/>
          <p:cNvSpPr txBox="1">
            <a:spLocks noGrp="1"/>
          </p:cNvSpPr>
          <p:nvPr>
            <p:ph type="title"/>
          </p:nvPr>
        </p:nvSpPr>
        <p:spPr>
          <a:xfrm>
            <a:off x="3281362" y="365741"/>
            <a:ext cx="5629275" cy="1045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lang="es-EC" sz="2000" dirty="0" err="1"/>
              <a:t>Insight</a:t>
            </a:r>
            <a:r>
              <a:rPr lang="es-EC" sz="2000" dirty="0"/>
              <a:t> 4: Patrones temporales </a:t>
            </a:r>
            <a:endParaRPr sz="4400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953435-02EE-4150-8D74-F62421B97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620" y="1134774"/>
            <a:ext cx="10622758" cy="502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238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03b2a34a6_1_98"/>
          <p:cNvSpPr txBox="1">
            <a:spLocks noGrp="1"/>
          </p:cNvSpPr>
          <p:nvPr>
            <p:ph type="dt" idx="10"/>
          </p:nvPr>
        </p:nvSpPr>
        <p:spPr>
          <a:xfrm>
            <a:off x="265243" y="635940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6 de noviembre de 2025</a:t>
            </a:r>
            <a:endParaRPr/>
          </a:p>
        </p:txBody>
      </p:sp>
      <p:sp>
        <p:nvSpPr>
          <p:cNvPr id="179" name="Google Shape;179;g3a03b2a34a6_1_98"/>
          <p:cNvSpPr txBox="1">
            <a:spLocks noGrp="1"/>
          </p:cNvSpPr>
          <p:nvPr>
            <p:ph type="title"/>
          </p:nvPr>
        </p:nvSpPr>
        <p:spPr>
          <a:xfrm>
            <a:off x="3181350" y="315012"/>
            <a:ext cx="5829300" cy="9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lang="es-EC" sz="2000" dirty="0" err="1"/>
              <a:t>Insight</a:t>
            </a:r>
            <a:r>
              <a:rPr lang="es-EC" sz="2000" dirty="0"/>
              <a:t> 5: Historial de reclamos previos </a:t>
            </a:r>
            <a:endParaRPr sz="4400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F7304EF-B584-46A5-8973-2D33D8B3A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621" y="1265112"/>
            <a:ext cx="6812757" cy="489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52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03b2a34a6_1_98"/>
          <p:cNvSpPr txBox="1">
            <a:spLocks noGrp="1"/>
          </p:cNvSpPr>
          <p:nvPr>
            <p:ph type="dt" idx="10"/>
          </p:nvPr>
        </p:nvSpPr>
        <p:spPr>
          <a:xfrm>
            <a:off x="265243" y="635940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6 de noviembre de 2025</a:t>
            </a:r>
            <a:endParaRPr/>
          </a:p>
        </p:txBody>
      </p:sp>
      <p:sp>
        <p:nvSpPr>
          <p:cNvPr id="179" name="Google Shape;179;g3a03b2a34a6_1_98"/>
          <p:cNvSpPr txBox="1">
            <a:spLocks noGrp="1"/>
          </p:cNvSpPr>
          <p:nvPr>
            <p:ph type="title"/>
          </p:nvPr>
        </p:nvSpPr>
        <p:spPr>
          <a:xfrm>
            <a:off x="1209675" y="383325"/>
            <a:ext cx="9772650" cy="97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lang="es-MX" sz="2000" dirty="0" err="1"/>
              <a:t>Insight</a:t>
            </a:r>
            <a:r>
              <a:rPr lang="es-MX" sz="2000" dirty="0"/>
              <a:t> </a:t>
            </a:r>
            <a:r>
              <a:rPr lang="es-MX" sz="2400" dirty="0"/>
              <a:t>BONUS</a:t>
            </a:r>
            <a:r>
              <a:rPr lang="es-MX" sz="2000" dirty="0"/>
              <a:t>: Días desde inicio de la póliza hasta el accidente </a:t>
            </a:r>
            <a:endParaRPr sz="4400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2CAB7D5-D551-44E1-8818-EFED9F9CC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210" y="1200151"/>
            <a:ext cx="6871579" cy="470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094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03b2a34a6_1_98"/>
          <p:cNvSpPr txBox="1">
            <a:spLocks noGrp="1"/>
          </p:cNvSpPr>
          <p:nvPr>
            <p:ph type="dt" idx="10"/>
          </p:nvPr>
        </p:nvSpPr>
        <p:spPr>
          <a:xfrm>
            <a:off x="265243" y="635940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6 de noviembre de 2025</a:t>
            </a:r>
            <a:endParaRPr/>
          </a:p>
        </p:txBody>
      </p:sp>
      <p:sp>
        <p:nvSpPr>
          <p:cNvPr id="179" name="Google Shape;179;g3a03b2a34a6_1_98"/>
          <p:cNvSpPr txBox="1">
            <a:spLocks noGrp="1"/>
          </p:cNvSpPr>
          <p:nvPr>
            <p:ph type="title"/>
          </p:nvPr>
        </p:nvSpPr>
        <p:spPr>
          <a:xfrm>
            <a:off x="0" y="498596"/>
            <a:ext cx="12192000" cy="73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</a:pPr>
            <a:r>
              <a:rPr lang="es-EC" sz="3200" dirty="0"/>
              <a:t>Conclusiones</a:t>
            </a:r>
            <a:endParaRPr sz="4400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" name="Google Shape;179;g3a03b2a34a6_1_98">
            <a:extLst>
              <a:ext uri="{FF2B5EF4-FFF2-40B4-BE49-F238E27FC236}">
                <a16:creationId xmlns:a16="http://schemas.microsoft.com/office/drawing/2014/main" id="{BF890B3D-CCDE-4573-8E75-B475920C5656}"/>
              </a:ext>
            </a:extLst>
          </p:cNvPr>
          <p:cNvSpPr txBox="1">
            <a:spLocks/>
          </p:cNvSpPr>
          <p:nvPr/>
        </p:nvSpPr>
        <p:spPr>
          <a:xfrm>
            <a:off x="265243" y="1646775"/>
            <a:ext cx="11361420" cy="356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571500">
              <a:lnSpc>
                <a:spcPct val="220000"/>
              </a:lnSpc>
              <a:buSzPts val="4800"/>
              <a:buFont typeface="Arial" panose="020B0604020202020204" pitchFamily="34" charset="0"/>
              <a:buChar char="•"/>
            </a:pPr>
            <a:r>
              <a:rPr lang="es-MX" sz="2000" dirty="0">
                <a:latin typeface="Century Gothic"/>
                <a:ea typeface="Century Gothic"/>
                <a:cs typeface="Century Gothic"/>
                <a:sym typeface="Century Gothic"/>
              </a:rPr>
              <a:t>El fraude </a:t>
            </a:r>
            <a:r>
              <a:rPr lang="es-MX" sz="2000" b="0" dirty="0">
                <a:latin typeface="Century Gothic"/>
                <a:ea typeface="Century Gothic"/>
                <a:cs typeface="Century Gothic"/>
                <a:sym typeface="Century Gothic"/>
              </a:rPr>
              <a:t>sigue patrones claros vinculados al vehículo, cliente y momento del reclamo.</a:t>
            </a:r>
          </a:p>
          <a:p>
            <a:pPr marL="571500" indent="-571500">
              <a:lnSpc>
                <a:spcPct val="220000"/>
              </a:lnSpc>
              <a:buSzPts val="4800"/>
              <a:buFont typeface="Arial" panose="020B0604020202020204" pitchFamily="34" charset="0"/>
              <a:buChar char="•"/>
            </a:pPr>
            <a:r>
              <a:rPr lang="es-MX" sz="2000" dirty="0">
                <a:latin typeface="Century Gothic"/>
                <a:ea typeface="Century Gothic"/>
                <a:cs typeface="Century Gothic"/>
                <a:sym typeface="Century Gothic"/>
              </a:rPr>
              <a:t>Vehículos </a:t>
            </a:r>
            <a:r>
              <a:rPr lang="es-MX" sz="2000" dirty="0" err="1">
                <a:latin typeface="Century Gothic"/>
                <a:ea typeface="Century Gothic"/>
                <a:cs typeface="Century Gothic"/>
                <a:sym typeface="Century Gothic"/>
              </a:rPr>
              <a:t>Utility</a:t>
            </a:r>
            <a:r>
              <a:rPr lang="es-MX" sz="2000" dirty="0"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r>
              <a:rPr lang="es-MX" sz="2000" b="0" dirty="0">
                <a:latin typeface="Century Gothic"/>
                <a:ea typeface="Century Gothic"/>
                <a:cs typeface="Century Gothic"/>
                <a:sym typeface="Century Gothic"/>
              </a:rPr>
              <a:t>mayor riesgo; Sport: riesgo muy bajo.</a:t>
            </a:r>
          </a:p>
          <a:p>
            <a:pPr marL="571500" indent="-571500">
              <a:lnSpc>
                <a:spcPct val="220000"/>
              </a:lnSpc>
              <a:buSzPts val="4800"/>
              <a:buFont typeface="Arial" panose="020B0604020202020204" pitchFamily="34" charset="0"/>
              <a:buChar char="•"/>
            </a:pPr>
            <a:r>
              <a:rPr lang="es-MX" sz="2000" dirty="0">
                <a:latin typeface="Century Gothic"/>
                <a:ea typeface="Century Gothic"/>
                <a:cs typeface="Century Gothic"/>
                <a:sym typeface="Century Gothic"/>
              </a:rPr>
              <a:t>Antigüedad crítica: </a:t>
            </a:r>
            <a:r>
              <a:rPr lang="es-MX" sz="2000" b="0" dirty="0">
                <a:latin typeface="Century Gothic"/>
                <a:ea typeface="Century Gothic"/>
                <a:cs typeface="Century Gothic"/>
                <a:sym typeface="Century Gothic"/>
              </a:rPr>
              <a:t>máximo fraude en autos de 3–4 años.</a:t>
            </a:r>
          </a:p>
          <a:p>
            <a:pPr marL="571500" indent="-571500">
              <a:lnSpc>
                <a:spcPct val="220000"/>
              </a:lnSpc>
              <a:buSzPts val="4800"/>
              <a:buFont typeface="Arial" panose="020B0604020202020204" pitchFamily="34" charset="0"/>
              <a:buChar char="•"/>
            </a:pPr>
            <a:r>
              <a:rPr lang="es-MX" sz="2000" dirty="0">
                <a:latin typeface="Century Gothic"/>
                <a:ea typeface="Century Gothic"/>
                <a:cs typeface="Century Gothic"/>
                <a:sym typeface="Century Gothic"/>
              </a:rPr>
              <a:t>Falta de evidencia </a:t>
            </a:r>
            <a:r>
              <a:rPr lang="es-MX" sz="2000" b="0" dirty="0">
                <a:latin typeface="Century Gothic"/>
                <a:ea typeface="Century Gothic"/>
                <a:cs typeface="Century Gothic"/>
                <a:sym typeface="Century Gothic"/>
              </a:rPr>
              <a:t>(sin reporte policial ni testigos) aumenta fuertemente el riesgo.</a:t>
            </a:r>
          </a:p>
          <a:p>
            <a:pPr marL="571500" indent="-571500">
              <a:lnSpc>
                <a:spcPct val="220000"/>
              </a:lnSpc>
              <a:buSzPts val="4800"/>
              <a:buFont typeface="Arial" panose="020B0604020202020204" pitchFamily="34" charset="0"/>
              <a:buChar char="•"/>
            </a:pPr>
            <a:r>
              <a:rPr lang="es-MX" sz="2000" dirty="0">
                <a:latin typeface="Century Gothic"/>
                <a:ea typeface="Century Gothic"/>
                <a:cs typeface="Century Gothic"/>
                <a:sym typeface="Century Gothic"/>
              </a:rPr>
              <a:t>Picos temporales: </a:t>
            </a:r>
            <a:r>
              <a:rPr lang="es-MX" sz="2000" b="0" dirty="0">
                <a:latin typeface="Century Gothic"/>
                <a:ea typeface="Century Gothic"/>
                <a:cs typeface="Century Gothic"/>
                <a:sym typeface="Century Gothic"/>
              </a:rPr>
              <a:t>fines de semana y meses específicos muestran actividad inusual.</a:t>
            </a:r>
            <a:endParaRPr lang="es-EC" sz="2000" b="0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70592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216</Words>
  <Application>Microsoft Office PowerPoint</Application>
  <PresentationFormat>Panorámica</PresentationFormat>
  <Paragraphs>35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Century Gothic</vt:lpstr>
      <vt:lpstr>Arial</vt:lpstr>
      <vt:lpstr>Montserrat</vt:lpstr>
      <vt:lpstr>Play</vt:lpstr>
      <vt:lpstr>Tema de Office</vt:lpstr>
      <vt:lpstr>PROJECT SAFE CLAIM </vt:lpstr>
      <vt:lpstr>¿Qué factores están realmente asociados a que un reclamo sea fraudulento?</vt:lpstr>
      <vt:lpstr>Insight 1: Riesgo según tipo de vehículo </vt:lpstr>
      <vt:lpstr>Insight 2: Antigüedad del vehículo </vt:lpstr>
      <vt:lpstr>Insight 3: Evidencia del reclamo </vt:lpstr>
      <vt:lpstr>Insight 4: Patrones temporales </vt:lpstr>
      <vt:lpstr>Insight 5: Historial de reclamos previos </vt:lpstr>
      <vt:lpstr>Insight BONUS: Días desde inicio de la póliza hasta el accidente 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de Python for Data Analytics</dc:title>
  <dc:creator>Gabriela De Fatima Jimenez Jimenez</dc:creator>
  <cp:lastModifiedBy>Cliente CONTROL-PC</cp:lastModifiedBy>
  <cp:revision>5</cp:revision>
  <dcterms:created xsi:type="dcterms:W3CDTF">2025-07-31T18:22:38Z</dcterms:created>
  <dcterms:modified xsi:type="dcterms:W3CDTF">2025-11-15T15:13:37Z</dcterms:modified>
</cp:coreProperties>
</file>